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F29D40-BAD2-4E86-984F-5603F1A9275C}">
  <a:tblStyle styleId="{CBF29D40-BAD2-4E86-984F-5603F1A9275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4c695a599851daf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h4c695a599851daf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4c695a599851daf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h4c695a599851daf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pt-BR"/>
              <a:t>A programação se tornará obsoleta</a:t>
            </a:r>
            <a:r>
              <a:rPr lang="pt-BR"/>
              <a:t>. Acredito que a ideia convencional de "escrever um programa" está caminhando para a extinção e, de fato, para todas as aplicações, exceto as muito especializadas, a maior parte do software, como o conhecemos, será substituída por sistemas de IA treinados em vez de programados. Em situações em que se necessita de um programa "simples" (afinal, nem tudo deve exigir um modelo com centenas de bilhões de parâmetros rodando em um cluster de GPUs), esses programas serão gerados por uma IA em vez de serem codificados manualmente.</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Avançando para os dias de hoje, aposto que 99% das pessoas que escrevem software não têm a mínima ideia de como uma CPU funciona, muito menos da física por trás do projeto de transistores. Por extensão, acredito que os cientistas da computação do futuro estarão tão distantes das definições clássicas de "software" que teriam muita dificuldade em inverter uma lista encadeada ou implementar o Quicksort.</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Nessa nova ciência da computação — se é que podemos chamá-la de ciência da computação — as máquinas serão tão poderosas e já saberão fazer tantas coisas que a área se parecerá menos com um empreendimento de engenharia e mais com um empreendimento educacional; ou seja, como melhor educar a máquina, de forma semelhante à ciência de como melhor educar as crianças na escola.</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Uma visão fatalista mas que inegavelmente tem grandes chances de se tornar realidade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143721fd0596f1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h143721fd0596f1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pt-BR"/>
              <a:t>A programação se tornará obsoleta</a:t>
            </a:r>
            <a:r>
              <a:rPr lang="pt-BR"/>
              <a:t>. Acredito que a ideia convencional de "escrever um programa" está caminhando para a extinção e, de fato, para todas as aplicações, exceto as muito especializadas, a maior parte do software, como o conhecemos, será substituída por sistemas de IA treinados em vez de programados. Em situações em que se necessita de um programa "simples" (afinal, nem tudo deve exigir um modelo com centenas de bilhões de parâmetros rodando em um cluster de GPUs), esses programas serão gerados por uma IA em vez de serem codificados manualmente.</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Avançando para os dias de hoje, aposto que 99% das pessoas que escrevem software não têm a mínima ideia de como uma CPU funciona, muito menos da física por trás do projeto de transistores. Por extensão, acredito que os cientistas da computação do futuro estarão tão distantes das definições clássicas de "software" que teriam muita dificuldade em inverter uma lista encadeada ou implementar o Quicksort.</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Nessa nova ciência da computação — se é que podemos chamá-la de ciência da computação — as máquinas serão tão poderosas e já saberão fazer tantas coisas que a área se parecerá menos com um empreendimento de engenharia e mais com um empreendimento educacional; ou seja, como melhor educar a máquina, de forma semelhante à ciência de como melhor educar as crianças na escola.</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Uma visão fatalista mas que inegavelmente tem grandes chances de se tornar realidade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4c695a599851daf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4c695a599851daf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1"/>
              </a:buClr>
              <a:buSzPts val="1200"/>
              <a:buChar char="●"/>
            </a:pPr>
            <a:r>
              <a:rPr b="1" lang="pt-BR" sz="1200">
                <a:solidFill>
                  <a:schemeClr val="dk1"/>
                </a:solidFill>
              </a:rPr>
              <a:t>Dificuldades Acidentais:</a:t>
            </a:r>
            <a:r>
              <a:rPr lang="pt-BR" sz="1200">
                <a:solidFill>
                  <a:schemeClr val="dk1"/>
                </a:solidFill>
              </a:rPr>
              <a:t> São os problemas que criamos para nós mesmos ou barreiras que não são inerentes à natureza do software em si (ex: linguagens de programação ineficientes, compiladores lentos, falta de ferramentas adequadas). Brooks argumenta que os grandes avanços do passado (como linguagens de alto nível e sistemas de tempo compartilhado) apenas resolveram problemas acidentais.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pt-BR" sz="1200">
                <a:solidFill>
                  <a:schemeClr val="dk1"/>
                </a:solidFill>
              </a:rPr>
              <a:t>Dificuldades Essenciais:</a:t>
            </a:r>
            <a:r>
              <a:rPr lang="pt-BR" sz="1200">
                <a:solidFill>
                  <a:schemeClr val="dk1"/>
                </a:solidFill>
              </a:rPr>
              <a:t> São os problemas inerentes e irredutíveis da própria natureza do software. É por causa delas que construir software sempre será uma tarefa difícil.</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pt-BR" sz="1200">
                <a:solidFill>
                  <a:schemeClr val="dk1"/>
                </a:solidFill>
              </a:rPr>
              <a:t>Comprar vs. Construir (Buy vs. Build):</a:t>
            </a:r>
            <a:r>
              <a:rPr lang="pt-BR" sz="1200">
                <a:solidFill>
                  <a:schemeClr val="dk1"/>
                </a:solidFill>
              </a:rPr>
              <a:t> Evitar construir software do zero usando soluções de mercado já prontas.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pt-BR" sz="1200">
                <a:solidFill>
                  <a:schemeClr val="dk1"/>
                </a:solidFill>
              </a:rPr>
              <a:t>Prototipagem Rápida:</a:t>
            </a:r>
            <a:r>
              <a:rPr lang="pt-BR" sz="1200">
                <a:solidFill>
                  <a:schemeClr val="dk1"/>
                </a:solidFill>
              </a:rPr>
              <a:t> Criar protótipos rapidamente para validar e refinar os requisitos conceituais antes de codificar em definitivo.</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pt-BR" sz="1200">
                <a:solidFill>
                  <a:schemeClr val="dk1"/>
                </a:solidFill>
              </a:rPr>
              <a:t>Desenvolvimento Incremental:</a:t>
            </a:r>
            <a:r>
              <a:rPr lang="pt-BR" sz="1200">
                <a:solidFill>
                  <a:schemeClr val="dk1"/>
                </a:solidFill>
              </a:rPr>
              <a:t> Cultivar ou "deixar o software crescer" em vez de tentar construí-lo todo de uma vez (antecipando os princípios que mais tarde fundamentaram o Manifesto Ágil).</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pt-BR" sz="1200">
                <a:solidFill>
                  <a:schemeClr val="dk1"/>
                </a:solidFill>
              </a:rPr>
              <a:t>Cultivar Grandes Designers:</a:t>
            </a:r>
            <a:r>
              <a:rPr lang="pt-BR" sz="1200">
                <a:solidFill>
                  <a:schemeClr val="dk1"/>
                </a:solidFill>
              </a:rPr>
              <a:t> O fator mais crítico é identificar e treinar mentes brilhantes de design e arquitetura de software, pois o talento humano excepcional é o que resolve a complexidade essencial</a:t>
            </a:r>
            <a:endParaRPr sz="1200">
              <a:solidFill>
                <a:schemeClr val="dk1"/>
              </a:solidFill>
            </a:endParaRPr>
          </a:p>
          <a:p>
            <a:pPr indent="0" lvl="0" marL="0" rtl="0" algn="l">
              <a:spcBef>
                <a:spcPts val="21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4c695a599851daf8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4c695a599851daf8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h4c695a599851daf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h4c695a599851daf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4c695a599851daf8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4c695a599851daf8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6f30fc3ab91c4711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6f30fc3ab91c4711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6f30fc3ab91c471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6f30fc3ab91c471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6f30fc3ab91c4711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6f30fc3ab91c4711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6f30fc3ab91c4711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h6f30fc3ab91c4711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3b817129fa7e5de9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3b817129fa7e5de9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solidFill>
                  <a:schemeClr val="dk1"/>
                </a:solidFill>
              </a:rPr>
              <a:t>não apresentar isso como uma verdade definitiva, mas como uma </a:t>
            </a:r>
            <a:r>
              <a:rPr b="1" lang="pt-BR">
                <a:solidFill>
                  <a:schemeClr val="dk1"/>
                </a:solidFill>
              </a:rPr>
              <a:t>hipótese baseada na literatura</a:t>
            </a:r>
            <a:r>
              <a:rPr lang="pt-BR">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h3b817129fa7e5de9_3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h3b817129fa7e5de9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3b817129fa7e5de9_3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h3b817129fa7e5de9_3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 </a:t>
            </a:r>
            <a:r>
              <a:rPr lang="pt-BR"/>
              <a:t>Ideia central: a IA não apenas ajuda o desenvolvedor; ela passa a executar uma parcela tão grande do trabalho que as empresas precisam de menos profissionais para produzir a mesma quantidade de software.</a:t>
            </a:r>
            <a:endParaRPr/>
          </a:p>
          <a:p>
            <a:pPr indent="0" lvl="0" marL="0" rtl="0" algn="l">
              <a:spcBef>
                <a:spcPts val="0"/>
              </a:spcBef>
              <a:spcAft>
                <a:spcPts val="0"/>
              </a:spcAft>
              <a:buNone/>
            </a:pPr>
            <a:r>
              <a:rPr lang="pt-BR"/>
              <a:t>B: Ideia central: a IA funciona como uma ferramenta poderosa. Ela automatiza partes do trabalho, mas o desenvolvedor continua sendo o principal responsável por conduzir o projeto. </a:t>
            </a:r>
            <a:endParaRPr/>
          </a:p>
          <a:p>
            <a:pPr indent="0" lvl="0" marL="0" rtl="0" algn="l">
              <a:spcBef>
                <a:spcPts val="0"/>
              </a:spcBef>
              <a:spcAft>
                <a:spcPts val="0"/>
              </a:spcAft>
              <a:buNone/>
            </a:pPr>
            <a:r>
              <a:rPr lang="pt-BR"/>
              <a:t>C: Ideia central: a profissão continua existindo, mas suas atividades, competências e responsabilidades mudam profundamente. (passa a supervisionar, educar, entender o problema)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3b817129fa7e5de9_3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h3b817129fa7e5de9_3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3b817129fa7e5de9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h3b817129fa7e5de9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pt-BR"/>
              <a:t>O FIM DA PROGRAMAÇÃO</a:t>
            </a:r>
            <a:endParaRPr/>
          </a:p>
          <a:p>
            <a:pPr indent="0" lvl="0" marL="0" rtl="0" algn="l">
              <a:spcBef>
                <a:spcPts val="0"/>
              </a:spcBef>
              <a:spcAft>
                <a:spcPts val="0"/>
              </a:spcAft>
              <a:buNone/>
            </a:pPr>
            <a:r>
              <a:t/>
            </a:r>
            <a:endParaRPr sz="2089"/>
          </a:p>
          <a:p>
            <a:pPr indent="0" lvl="0" marL="0" rtl="0" algn="ctr">
              <a:spcBef>
                <a:spcPts val="0"/>
              </a:spcBef>
              <a:spcAft>
                <a:spcPts val="0"/>
              </a:spcAft>
              <a:buNone/>
            </a:pPr>
            <a:r>
              <a:rPr lang="pt-BR" sz="2800">
                <a:solidFill>
                  <a:schemeClr val="lt2"/>
                </a:solidFill>
              </a:rPr>
              <a:t>A IA vai acabar com a profissão do desenvolvedor de software?</a:t>
            </a:r>
            <a:endParaRPr sz="3100"/>
          </a:p>
        </p:txBody>
      </p:sp>
      <p:sp>
        <p:nvSpPr>
          <p:cNvPr id="55" name="Google Shape;55;p13"/>
          <p:cNvSpPr txBox="1"/>
          <p:nvPr>
            <p:ph idx="1" type="subTitle"/>
          </p:nvPr>
        </p:nvSpPr>
        <p:spPr>
          <a:xfrm>
            <a:off x="278075" y="30442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sz="1500">
                <a:solidFill>
                  <a:schemeClr val="dk1"/>
                </a:solidFill>
              </a:rPr>
              <a:t>Bernardo R; Bernardo W; Guilherme S; Klaus B e Rafaela M</a:t>
            </a:r>
            <a:endParaRPr sz="1500">
              <a:solidFill>
                <a:schemeClr val="dk1"/>
              </a:solidFill>
            </a:endParaRPr>
          </a:p>
          <a:p>
            <a:pPr indent="0" lvl="0" marL="0" rtl="0" algn="ctr">
              <a:spcBef>
                <a:spcPts val="0"/>
              </a:spcBef>
              <a:spcAft>
                <a:spcPts val="0"/>
              </a:spcAft>
              <a:buNone/>
            </a:pPr>
            <a:r>
              <a:rPr lang="pt-BR" sz="1500">
                <a:solidFill>
                  <a:schemeClr val="dk1"/>
                </a:solidFill>
              </a:rPr>
              <a:t>Universidade de Caxias do Sul</a:t>
            </a:r>
            <a:endParaRPr sz="1500">
              <a:solidFill>
                <a:schemeClr val="dk1"/>
              </a:solidFill>
            </a:endParaRPr>
          </a:p>
        </p:txBody>
      </p:sp>
      <p:pic>
        <p:nvPicPr>
          <p:cNvPr id="56" name="Google Shape;56;p13"/>
          <p:cNvPicPr preferRelativeResize="0"/>
          <p:nvPr/>
        </p:nvPicPr>
        <p:blipFill>
          <a:blip r:embed="rId3">
            <a:alphaModFix/>
          </a:blip>
          <a:stretch>
            <a:fillRect/>
          </a:stretch>
        </p:blipFill>
        <p:spPr>
          <a:xfrm>
            <a:off x="7890453" y="3277101"/>
            <a:ext cx="941850" cy="17362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Antes de responder…</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solidFill>
                  <a:schemeClr val="dk1"/>
                </a:solidFill>
              </a:rPr>
              <a:t>O que faz um programador?</a:t>
            </a:r>
            <a:endParaRPr>
              <a:solidFill>
                <a:schemeClr val="dk1"/>
              </a:solidFill>
            </a:endParaRPr>
          </a:p>
          <a:p>
            <a:pPr indent="-342900" lvl="0" marL="457200" rtl="0" algn="l">
              <a:spcBef>
                <a:spcPts val="1200"/>
              </a:spcBef>
              <a:spcAft>
                <a:spcPts val="0"/>
              </a:spcAft>
              <a:buSzPts val="1800"/>
              <a:buChar char="●"/>
            </a:pPr>
            <a:r>
              <a:rPr lang="pt-BR"/>
              <a:t>Escrever código: instruções para o computador.</a:t>
            </a:r>
            <a:endParaRPr/>
          </a:p>
          <a:p>
            <a:pPr indent="-342900" lvl="0" marL="457200" rtl="0" algn="l">
              <a:spcBef>
                <a:spcPts val="0"/>
              </a:spcBef>
              <a:spcAft>
                <a:spcPts val="0"/>
              </a:spcAft>
              <a:buSzPts val="1800"/>
              <a:buChar char="●"/>
            </a:pPr>
            <a:r>
              <a:rPr lang="pt-BR"/>
              <a:t>Entender requisitos: definir o que precisa ser construído.</a:t>
            </a:r>
            <a:endParaRPr/>
          </a:p>
          <a:p>
            <a:pPr indent="-342900" lvl="0" marL="457200" rtl="0" algn="l">
              <a:spcBef>
                <a:spcPts val="0"/>
              </a:spcBef>
              <a:spcAft>
                <a:spcPts val="0"/>
              </a:spcAft>
              <a:buSzPts val="1800"/>
              <a:buChar char="●"/>
            </a:pPr>
            <a:r>
              <a:rPr lang="pt-BR"/>
              <a:t>Projetar: escolher a arquitetura e tecnologias.</a:t>
            </a:r>
            <a:endParaRPr/>
          </a:p>
          <a:p>
            <a:pPr indent="-342900" lvl="0" marL="457200" rtl="0" algn="l">
              <a:spcBef>
                <a:spcPts val="0"/>
              </a:spcBef>
              <a:spcAft>
                <a:spcPts val="0"/>
              </a:spcAft>
              <a:buSzPts val="1800"/>
              <a:buChar char="●"/>
            </a:pPr>
            <a:r>
              <a:rPr lang="pt-BR"/>
              <a:t>Testar e validar: verificar se o sistema atende os requisitos.</a:t>
            </a:r>
            <a:endParaRPr/>
          </a:p>
          <a:p>
            <a:pPr indent="-342900" lvl="0" marL="457200" rtl="0" algn="l">
              <a:spcBef>
                <a:spcPts val="0"/>
              </a:spcBef>
              <a:spcAft>
                <a:spcPts val="0"/>
              </a:spcAft>
              <a:buSzPts val="1800"/>
              <a:buChar char="●"/>
            </a:pPr>
            <a:r>
              <a:rPr lang="pt-BR"/>
              <a:t>Manter e evoluir: lidar com mudanças ou novas restrições.</a:t>
            </a:r>
            <a:endParaRPr/>
          </a:p>
          <a:p>
            <a:pPr indent="-342900" lvl="0" marL="457200" rtl="0" algn="l">
              <a:spcBef>
                <a:spcPts val="0"/>
              </a:spcBef>
              <a:spcAft>
                <a:spcPts val="0"/>
              </a:spcAft>
              <a:buSzPts val="1800"/>
              <a:buChar char="●"/>
            </a:pPr>
            <a:r>
              <a:rPr lang="pt-BR"/>
              <a:t>Tomar decisões:trabalhar com problemas ambíguos.</a:t>
            </a:r>
            <a:endParaRPr/>
          </a:p>
          <a:p>
            <a:pPr indent="0" lvl="0" marL="0" rtl="0" algn="l">
              <a:spcBef>
                <a:spcPts val="1200"/>
              </a:spcBef>
              <a:spcAft>
                <a:spcPts val="1200"/>
              </a:spcAft>
              <a:buNone/>
            </a:pPr>
            <a:r>
              <a:rPr lang="pt-BR">
                <a:solidFill>
                  <a:schemeClr val="dk1"/>
                </a:solidFill>
              </a:rPr>
              <a:t>Se a IA escrever todo o código, ainda precisamos de um desenvolvedor?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Matt Welsh - The End of Programming (2023)</a:t>
            </a:r>
            <a:endParaRPr/>
          </a:p>
        </p:txBody>
      </p:sp>
      <p:sp>
        <p:nvSpPr>
          <p:cNvPr id="68" name="Google Shape;68;p15"/>
          <p:cNvSpPr txBox="1"/>
          <p:nvPr>
            <p:ph idx="1" type="body"/>
          </p:nvPr>
        </p:nvSpPr>
        <p:spPr>
          <a:xfrm>
            <a:off x="4013050" y="1152475"/>
            <a:ext cx="4819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Defende: </a:t>
            </a:r>
            <a:endParaRPr/>
          </a:p>
          <a:p>
            <a:pPr indent="0" lvl="0" marL="0" rtl="0" algn="l">
              <a:spcBef>
                <a:spcPts val="1200"/>
              </a:spcBef>
              <a:spcAft>
                <a:spcPts val="0"/>
              </a:spcAft>
              <a:buNone/>
            </a:pPr>
            <a:r>
              <a:rPr lang="pt-BR"/>
              <a:t>“A ideia de escrever um programa está fadada a extinção”</a:t>
            </a:r>
            <a:endParaRPr/>
          </a:p>
          <a:p>
            <a:pPr indent="0" lvl="0" marL="0" rtl="0" algn="l">
              <a:spcBef>
                <a:spcPts val="1200"/>
              </a:spcBef>
              <a:spcAft>
                <a:spcPts val="0"/>
              </a:spcAft>
              <a:buNone/>
            </a:pPr>
            <a:r>
              <a:rPr lang="pt-BR"/>
              <a:t>“Eventual separação entre programador e software”</a:t>
            </a:r>
            <a:endParaRPr/>
          </a:p>
          <a:p>
            <a:pPr indent="0" lvl="0" marL="0" rtl="0" algn="l">
              <a:spcBef>
                <a:spcPts val="1200"/>
              </a:spcBef>
              <a:spcAft>
                <a:spcPts val="0"/>
              </a:spcAft>
              <a:buNone/>
            </a:pPr>
            <a:r>
              <a:rPr lang="pt-BR"/>
              <a:t>“Humanos apenas supervisionam o trabalho da IA”</a:t>
            </a:r>
            <a:endParaRPr/>
          </a:p>
          <a:p>
            <a:pPr indent="0" lvl="0" marL="0" rtl="0" algn="l">
              <a:spcBef>
                <a:spcPts val="1200"/>
              </a:spcBef>
              <a:spcAft>
                <a:spcPts val="1200"/>
              </a:spcAft>
              <a:buNone/>
            </a:pPr>
            <a:r>
              <a:rPr lang="pt-BR"/>
              <a:t>“Adaptação é/será necessária”</a:t>
            </a:r>
            <a:endParaRPr/>
          </a:p>
        </p:txBody>
      </p:sp>
      <p:pic>
        <p:nvPicPr>
          <p:cNvPr id="69" name="Google Shape;69;p15"/>
          <p:cNvPicPr preferRelativeResize="0"/>
          <p:nvPr/>
        </p:nvPicPr>
        <p:blipFill>
          <a:blip r:embed="rId3">
            <a:alphaModFix/>
          </a:blip>
          <a:stretch>
            <a:fillRect/>
          </a:stretch>
        </p:blipFill>
        <p:spPr>
          <a:xfrm>
            <a:off x="311700" y="1181100"/>
            <a:ext cx="3701350" cy="2401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O Paradoxo de Jevons: de digitadores a orquestradores </a:t>
            </a:r>
            <a:endParaRPr/>
          </a:p>
        </p:txBody>
      </p:sp>
      <p:pic>
        <p:nvPicPr>
          <p:cNvPr id="75" name="Google Shape;75;p16"/>
          <p:cNvPicPr preferRelativeResize="0"/>
          <p:nvPr/>
        </p:nvPicPr>
        <p:blipFill>
          <a:blip r:embed="rId3">
            <a:alphaModFix/>
          </a:blip>
          <a:stretch>
            <a:fillRect/>
          </a:stretch>
        </p:blipFill>
        <p:spPr>
          <a:xfrm>
            <a:off x="1850275" y="1548200"/>
            <a:ext cx="5443456" cy="3051600"/>
          </a:xfrm>
          <a:prstGeom prst="rect">
            <a:avLst/>
          </a:prstGeom>
          <a:noFill/>
          <a:ln>
            <a:noFill/>
          </a:ln>
        </p:spPr>
      </p:pic>
      <p:sp>
        <p:nvSpPr>
          <p:cNvPr id="76" name="Google Shape;76;p16"/>
          <p:cNvSpPr txBox="1"/>
          <p:nvPr>
            <p:ph idx="1" type="body"/>
          </p:nvPr>
        </p:nvSpPr>
        <p:spPr>
          <a:xfrm>
            <a:off x="796500" y="963600"/>
            <a:ext cx="7551000" cy="3216300"/>
          </a:xfrm>
          <a:prstGeom prst="rect">
            <a:avLst/>
          </a:prstGeom>
        </p:spPr>
        <p:txBody>
          <a:bodyPr anchorCtr="0" anchor="t" bIns="91425" lIns="91425" spcFirstLastPara="1" rIns="91425" wrap="square" tIns="91425">
            <a:normAutofit/>
          </a:bodyPr>
          <a:lstStyle/>
          <a:p>
            <a:pPr indent="457200" lvl="0" marL="457200" rtl="0" algn="l">
              <a:spcBef>
                <a:spcPts val="0"/>
              </a:spcBef>
              <a:spcAft>
                <a:spcPts val="0"/>
              </a:spcAft>
              <a:buNone/>
            </a:pPr>
            <a:r>
              <a:rPr lang="pt-BR"/>
              <a:t>Mais código. Mais softwares. Mais profissionais capacitados? </a:t>
            </a:r>
            <a:endParaRPr/>
          </a:p>
          <a:p>
            <a:pPr indent="457200" lvl="0" marL="457200" rtl="0" algn="l">
              <a:spcBef>
                <a:spcPts val="1200"/>
              </a:spcBef>
              <a:spcAft>
                <a:spcPts val="1200"/>
              </a:spcAft>
              <a:buNone/>
            </a:pPr>
            <a:r>
              <a:rPr lang="pt-B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Brooks — No Silver Bullet (1987)</a:t>
            </a:r>
            <a:endParaRPr/>
          </a:p>
        </p:txBody>
      </p:sp>
      <p:pic>
        <p:nvPicPr>
          <p:cNvPr id="82" name="Google Shape;82;p17"/>
          <p:cNvPicPr preferRelativeResize="0"/>
          <p:nvPr/>
        </p:nvPicPr>
        <p:blipFill>
          <a:blip r:embed="rId3">
            <a:alphaModFix/>
          </a:blip>
          <a:stretch>
            <a:fillRect/>
          </a:stretch>
        </p:blipFill>
        <p:spPr>
          <a:xfrm>
            <a:off x="477442" y="1392100"/>
            <a:ext cx="3570076" cy="2040051"/>
          </a:xfrm>
          <a:prstGeom prst="rect">
            <a:avLst/>
          </a:prstGeom>
          <a:noFill/>
          <a:ln>
            <a:noFill/>
          </a:ln>
        </p:spPr>
      </p:pic>
      <p:sp>
        <p:nvSpPr>
          <p:cNvPr id="83" name="Google Shape;83;p17"/>
          <p:cNvSpPr txBox="1"/>
          <p:nvPr/>
        </p:nvSpPr>
        <p:spPr>
          <a:xfrm>
            <a:off x="4126300" y="1159500"/>
            <a:ext cx="4914300" cy="2824500"/>
          </a:xfrm>
          <a:prstGeom prst="rect">
            <a:avLst/>
          </a:prstGeom>
          <a:noFill/>
          <a:ln>
            <a:noFill/>
          </a:ln>
        </p:spPr>
        <p:txBody>
          <a:bodyPr anchorCtr="0" anchor="t" bIns="91425" lIns="91425" spcFirstLastPara="1" rIns="91425" wrap="square" tIns="91425">
            <a:spAutoFit/>
          </a:bodyPr>
          <a:lstStyle/>
          <a:p>
            <a:pPr indent="-342900" lvl="0" marL="457200" rtl="0" algn="l">
              <a:lnSpc>
                <a:spcPct val="100000"/>
              </a:lnSpc>
              <a:spcBef>
                <a:spcPts val="0"/>
              </a:spcBef>
              <a:spcAft>
                <a:spcPts val="0"/>
              </a:spcAft>
              <a:buClr>
                <a:schemeClr val="lt2"/>
              </a:buClr>
              <a:buSzPts val="1800"/>
              <a:buChar char="●"/>
            </a:pPr>
            <a:r>
              <a:rPr lang="pt-BR" sz="1800">
                <a:solidFill>
                  <a:schemeClr val="lt2"/>
                </a:solidFill>
              </a:rPr>
              <a:t>Dificuldades Acidentais X Essenciais</a:t>
            </a:r>
            <a:endParaRPr sz="1800">
              <a:solidFill>
                <a:schemeClr val="lt2"/>
              </a:solidFill>
            </a:endParaRPr>
          </a:p>
          <a:p>
            <a:pPr indent="0" lvl="0" marL="0" rtl="0" algn="l">
              <a:lnSpc>
                <a:spcPct val="100000"/>
              </a:lnSpc>
              <a:spcBef>
                <a:spcPts val="0"/>
              </a:spcBef>
              <a:spcAft>
                <a:spcPts val="0"/>
              </a:spcAft>
              <a:buNone/>
            </a:pPr>
            <a:r>
              <a:t/>
            </a:r>
            <a:endParaRPr sz="1800">
              <a:solidFill>
                <a:schemeClr val="lt2"/>
              </a:solidFill>
            </a:endParaRPr>
          </a:p>
          <a:p>
            <a:pPr indent="0" lvl="0" marL="0" rtl="0" algn="l">
              <a:lnSpc>
                <a:spcPct val="100000"/>
              </a:lnSpc>
              <a:spcBef>
                <a:spcPts val="0"/>
              </a:spcBef>
              <a:spcAft>
                <a:spcPts val="0"/>
              </a:spcAft>
              <a:buNone/>
            </a:pPr>
            <a:r>
              <a:rPr lang="pt-BR" sz="1800">
                <a:solidFill>
                  <a:schemeClr val="lt2"/>
                </a:solidFill>
              </a:rPr>
              <a:t>O real progresso:</a:t>
            </a:r>
            <a:endParaRPr sz="1800">
              <a:solidFill>
                <a:schemeClr val="lt2"/>
              </a:solidFill>
            </a:endParaRPr>
          </a:p>
          <a:p>
            <a:pPr indent="-342900" lvl="0" marL="457200" rtl="0" algn="l">
              <a:lnSpc>
                <a:spcPct val="100000"/>
              </a:lnSpc>
              <a:spcBef>
                <a:spcPts val="1200"/>
              </a:spcBef>
              <a:spcAft>
                <a:spcPts val="0"/>
              </a:spcAft>
              <a:buClr>
                <a:schemeClr val="lt2"/>
              </a:buClr>
              <a:buSzPts val="1800"/>
              <a:buChar char="●"/>
            </a:pPr>
            <a:r>
              <a:rPr lang="pt-BR" sz="1800">
                <a:solidFill>
                  <a:schemeClr val="lt2"/>
                </a:solidFill>
              </a:rPr>
              <a:t>Comprar vs. Construir (Buy vs. Build)</a:t>
            </a:r>
            <a:endParaRPr sz="1800">
              <a:solidFill>
                <a:schemeClr val="lt2"/>
              </a:solidFill>
            </a:endParaRPr>
          </a:p>
          <a:p>
            <a:pPr indent="-342900" lvl="0" marL="457200" rtl="0" algn="l">
              <a:lnSpc>
                <a:spcPct val="100000"/>
              </a:lnSpc>
              <a:spcBef>
                <a:spcPts val="0"/>
              </a:spcBef>
              <a:spcAft>
                <a:spcPts val="0"/>
              </a:spcAft>
              <a:buClr>
                <a:schemeClr val="lt2"/>
              </a:buClr>
              <a:buSzPts val="1800"/>
              <a:buChar char="●"/>
            </a:pPr>
            <a:r>
              <a:rPr lang="pt-BR" sz="1800">
                <a:solidFill>
                  <a:schemeClr val="lt2"/>
                </a:solidFill>
              </a:rPr>
              <a:t>Prototipagem Rápida</a:t>
            </a:r>
            <a:endParaRPr sz="1800">
              <a:solidFill>
                <a:schemeClr val="lt2"/>
              </a:solidFill>
            </a:endParaRPr>
          </a:p>
          <a:p>
            <a:pPr indent="-342900" lvl="0" marL="457200" rtl="0" algn="l">
              <a:lnSpc>
                <a:spcPct val="100000"/>
              </a:lnSpc>
              <a:spcBef>
                <a:spcPts val="0"/>
              </a:spcBef>
              <a:spcAft>
                <a:spcPts val="0"/>
              </a:spcAft>
              <a:buClr>
                <a:schemeClr val="lt2"/>
              </a:buClr>
              <a:buSzPts val="1800"/>
              <a:buChar char="●"/>
            </a:pPr>
            <a:r>
              <a:rPr lang="pt-BR" sz="1800">
                <a:solidFill>
                  <a:schemeClr val="lt2"/>
                </a:solidFill>
              </a:rPr>
              <a:t>Desenvolvimento Incremental</a:t>
            </a:r>
            <a:endParaRPr sz="1800">
              <a:solidFill>
                <a:schemeClr val="lt2"/>
              </a:solidFill>
            </a:endParaRPr>
          </a:p>
          <a:p>
            <a:pPr indent="-342900" lvl="0" marL="457200" rtl="0" algn="l">
              <a:lnSpc>
                <a:spcPct val="100000"/>
              </a:lnSpc>
              <a:spcBef>
                <a:spcPts val="0"/>
              </a:spcBef>
              <a:spcAft>
                <a:spcPts val="0"/>
              </a:spcAft>
              <a:buClr>
                <a:schemeClr val="lt2"/>
              </a:buClr>
              <a:buSzPts val="1800"/>
              <a:buChar char="●"/>
            </a:pPr>
            <a:r>
              <a:rPr lang="pt-BR" sz="1800">
                <a:solidFill>
                  <a:schemeClr val="lt2"/>
                </a:solidFill>
              </a:rPr>
              <a:t>Talento Humano</a:t>
            </a:r>
            <a:endParaRPr sz="1200"/>
          </a:p>
          <a:p>
            <a:pPr indent="0" lvl="0" marL="0" rtl="0" algn="l">
              <a:spcBef>
                <a:spcPts val="2100"/>
              </a:spcBef>
              <a:spcAft>
                <a:spcPts val="0"/>
              </a:spcAft>
              <a:buNone/>
            </a:pPr>
            <a:r>
              <a:t/>
            </a:r>
            <a:endParaRPr sz="1800">
              <a:solidFill>
                <a:schemeClr val="lt2"/>
              </a:solidFill>
            </a:endParaRPr>
          </a:p>
        </p:txBody>
      </p:sp>
      <p:sp>
        <p:nvSpPr>
          <p:cNvPr id="84" name="Google Shape;84;p17"/>
          <p:cNvSpPr txBox="1"/>
          <p:nvPr/>
        </p:nvSpPr>
        <p:spPr>
          <a:xfrm>
            <a:off x="477450" y="4286250"/>
            <a:ext cx="9144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pt-BR" sz="1800">
                <a:solidFill>
                  <a:schemeClr val="lt2"/>
                </a:solidFill>
              </a:rPr>
              <a:t>Ideia Chave: </a:t>
            </a:r>
            <a:r>
              <a:rPr lang="pt-BR" sz="1800">
                <a:solidFill>
                  <a:schemeClr val="lt2"/>
                </a:solidFill>
              </a:rPr>
              <a:t>Escrever código não necessariamente é o problema mais difícil.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Karpathy - Software 2.0</a:t>
            </a:r>
            <a:endParaRPr/>
          </a:p>
        </p:txBody>
      </p:sp>
      <p:sp>
        <p:nvSpPr>
          <p:cNvPr id="90" name="Google Shape;90;p18"/>
          <p:cNvSpPr txBox="1"/>
          <p:nvPr>
            <p:ph idx="1" type="body"/>
          </p:nvPr>
        </p:nvSpPr>
        <p:spPr>
          <a:xfrm>
            <a:off x="0" y="1017725"/>
            <a:ext cx="5895000" cy="4658100"/>
          </a:xfrm>
          <a:prstGeom prst="rect">
            <a:avLst/>
          </a:prstGeom>
        </p:spPr>
        <p:txBody>
          <a:bodyPr anchorCtr="0" anchor="t" bIns="91425" lIns="91425" spcFirstLastPara="1" rIns="91425" wrap="square" tIns="91425">
            <a:normAutofit lnSpcReduction="20000"/>
          </a:bodyPr>
          <a:lstStyle/>
          <a:p>
            <a:pPr indent="-314325" lvl="0" marL="762000" rtl="0" algn="l">
              <a:lnSpc>
                <a:spcPct val="115000"/>
              </a:lnSpc>
              <a:spcBef>
                <a:spcPts val="0"/>
              </a:spcBef>
              <a:spcAft>
                <a:spcPts val="0"/>
              </a:spcAft>
              <a:buClr>
                <a:srgbClr val="B0B3B8"/>
              </a:buClr>
              <a:buSzPts val="1350"/>
              <a:buChar char="●"/>
            </a:pPr>
            <a:r>
              <a:rPr lang="pt-BR" sz="1350">
                <a:solidFill>
                  <a:srgbClr val="B0B3B8"/>
                </a:solidFill>
                <a:highlight>
                  <a:srgbClr val="202124"/>
                </a:highlight>
              </a:rPr>
              <a:t>O perigo da "Caixa Preta": decisões invisíveis não podem ser justificadas na justiça ou medicina.</a:t>
            </a:r>
            <a:endParaRPr sz="1350">
              <a:solidFill>
                <a:srgbClr val="B0B3B8"/>
              </a:solidFill>
              <a:highlight>
                <a:srgbClr val="202124"/>
              </a:highlight>
            </a:endParaRPr>
          </a:p>
          <a:p>
            <a:pPr indent="0" lvl="0" marL="457200" rtl="0" algn="l">
              <a:lnSpc>
                <a:spcPct val="115000"/>
              </a:lnSpc>
              <a:spcBef>
                <a:spcPts val="900"/>
              </a:spcBef>
              <a:spcAft>
                <a:spcPts val="0"/>
              </a:spcAft>
              <a:buNone/>
            </a:pPr>
            <a:r>
              <a:t/>
            </a:r>
            <a:endParaRPr sz="1350">
              <a:solidFill>
                <a:srgbClr val="B0B3B8"/>
              </a:solidFill>
              <a:highlight>
                <a:srgbClr val="202124"/>
              </a:highlight>
            </a:endParaRPr>
          </a:p>
          <a:p>
            <a:pPr indent="-314325" lvl="0" marL="762000" rtl="0" algn="l">
              <a:lnSpc>
                <a:spcPct val="115000"/>
              </a:lnSpc>
              <a:spcBef>
                <a:spcPts val="900"/>
              </a:spcBef>
              <a:spcAft>
                <a:spcPts val="0"/>
              </a:spcAft>
              <a:buClr>
                <a:srgbClr val="B0B3B8"/>
              </a:buClr>
              <a:buSzPts val="1350"/>
              <a:buChar char="●"/>
            </a:pPr>
            <a:r>
              <a:rPr lang="pt-BR" sz="1350">
                <a:solidFill>
                  <a:srgbClr val="B0B3B8"/>
                </a:solidFill>
                <a:highlight>
                  <a:srgbClr val="202124"/>
                </a:highlight>
              </a:rPr>
              <a:t>Sistemas críticos (Determinismo): a aviação exige 100% de previsibilidade, não probabilidades.</a:t>
            </a:r>
            <a:endParaRPr sz="1350">
              <a:solidFill>
                <a:srgbClr val="B0B3B8"/>
              </a:solidFill>
              <a:highlight>
                <a:srgbClr val="202124"/>
              </a:highlight>
            </a:endParaRPr>
          </a:p>
          <a:p>
            <a:pPr indent="0" lvl="0" marL="457200" rtl="0" algn="l">
              <a:lnSpc>
                <a:spcPct val="115000"/>
              </a:lnSpc>
              <a:spcBef>
                <a:spcPts val="900"/>
              </a:spcBef>
              <a:spcAft>
                <a:spcPts val="0"/>
              </a:spcAft>
              <a:buNone/>
            </a:pPr>
            <a:r>
              <a:t/>
            </a:r>
            <a:endParaRPr sz="1350">
              <a:solidFill>
                <a:srgbClr val="B0B3B8"/>
              </a:solidFill>
              <a:highlight>
                <a:srgbClr val="202124"/>
              </a:highlight>
            </a:endParaRPr>
          </a:p>
          <a:p>
            <a:pPr indent="-314325" lvl="0" marL="762000" rtl="0" algn="l">
              <a:lnSpc>
                <a:spcPct val="115000"/>
              </a:lnSpc>
              <a:spcBef>
                <a:spcPts val="900"/>
              </a:spcBef>
              <a:spcAft>
                <a:spcPts val="0"/>
              </a:spcAft>
              <a:buClr>
                <a:srgbClr val="B0B3B8"/>
              </a:buClr>
              <a:buSzPts val="1350"/>
              <a:buChar char="●"/>
            </a:pPr>
            <a:r>
              <a:rPr lang="pt-BR" sz="1350">
                <a:solidFill>
                  <a:srgbClr val="B0B3B8"/>
                </a:solidFill>
                <a:highlight>
                  <a:srgbClr val="202124"/>
                </a:highlight>
              </a:rPr>
              <a:t>Regras estritas vs. Padrões: leis e impostos requerem a lógica exata do Software 1.0.</a:t>
            </a:r>
            <a:endParaRPr sz="1350">
              <a:solidFill>
                <a:srgbClr val="B0B3B8"/>
              </a:solidFill>
              <a:highlight>
                <a:srgbClr val="202124"/>
              </a:highlight>
            </a:endParaRPr>
          </a:p>
          <a:p>
            <a:pPr indent="0" lvl="0" marL="457200" rtl="0" algn="l">
              <a:lnSpc>
                <a:spcPct val="115000"/>
              </a:lnSpc>
              <a:spcBef>
                <a:spcPts val="900"/>
              </a:spcBef>
              <a:spcAft>
                <a:spcPts val="0"/>
              </a:spcAft>
              <a:buNone/>
            </a:pPr>
            <a:r>
              <a:t/>
            </a:r>
            <a:endParaRPr sz="1350">
              <a:solidFill>
                <a:srgbClr val="B0B3B8"/>
              </a:solidFill>
              <a:highlight>
                <a:srgbClr val="202124"/>
              </a:highlight>
            </a:endParaRPr>
          </a:p>
          <a:p>
            <a:pPr indent="-314325" lvl="0" marL="762000" rtl="0" algn="l">
              <a:lnSpc>
                <a:spcPct val="115000"/>
              </a:lnSpc>
              <a:spcBef>
                <a:spcPts val="900"/>
              </a:spcBef>
              <a:spcAft>
                <a:spcPts val="0"/>
              </a:spcAft>
              <a:buClr>
                <a:srgbClr val="B0B3B8"/>
              </a:buClr>
              <a:buSzPts val="1350"/>
              <a:buChar char="●"/>
            </a:pPr>
            <a:r>
              <a:rPr lang="pt-BR" sz="1350">
                <a:solidFill>
                  <a:srgbClr val="B0B3B8"/>
                </a:solidFill>
                <a:highlight>
                  <a:srgbClr val="202124"/>
                </a:highlight>
              </a:rPr>
              <a:t>A dependência do 1.0: toda a infraestrutura e servidores da IA rodam sobre código clássico.</a:t>
            </a:r>
            <a:endParaRPr sz="1350">
              <a:solidFill>
                <a:srgbClr val="B0B3B8"/>
              </a:solidFill>
              <a:highlight>
                <a:srgbClr val="202124"/>
              </a:highlight>
            </a:endParaRPr>
          </a:p>
          <a:p>
            <a:pPr indent="0" lvl="0" marL="457200" rtl="0" algn="l">
              <a:lnSpc>
                <a:spcPct val="115000"/>
              </a:lnSpc>
              <a:spcBef>
                <a:spcPts val="900"/>
              </a:spcBef>
              <a:spcAft>
                <a:spcPts val="0"/>
              </a:spcAft>
              <a:buNone/>
            </a:pPr>
            <a:r>
              <a:t/>
            </a:r>
            <a:endParaRPr sz="1350">
              <a:solidFill>
                <a:srgbClr val="B0B3B8"/>
              </a:solidFill>
              <a:highlight>
                <a:srgbClr val="202124"/>
              </a:highlight>
            </a:endParaRPr>
          </a:p>
          <a:p>
            <a:pPr indent="0" lvl="0" marL="0" rtl="0" algn="ctr">
              <a:lnSpc>
                <a:spcPct val="115000"/>
              </a:lnSpc>
              <a:spcBef>
                <a:spcPts val="900"/>
              </a:spcBef>
              <a:spcAft>
                <a:spcPts val="0"/>
              </a:spcAft>
              <a:buNone/>
            </a:pPr>
            <a:r>
              <a:rPr lang="pt-BR" sz="1350">
                <a:solidFill>
                  <a:srgbClr val="FFFFFF"/>
                </a:solidFill>
                <a:highlight>
                  <a:srgbClr val="202124"/>
                </a:highlight>
              </a:rPr>
              <a:t>"Prefiro usar um Software 2.0 (IA) que acerta 99% das vezes e ninguém entende como funciona, do que usar um código comum (Software 1.0) que acerta 90% e todos entendem."</a:t>
            </a:r>
            <a:r>
              <a:rPr lang="pt-BR" sz="1100">
                <a:solidFill>
                  <a:srgbClr val="000000"/>
                </a:solidFill>
              </a:rPr>
              <a:t> </a:t>
            </a:r>
            <a:endParaRPr sz="1350">
              <a:solidFill>
                <a:srgbClr val="B0B3B8"/>
              </a:solidFill>
              <a:highlight>
                <a:srgbClr val="202124"/>
              </a:highlight>
            </a:endParaRPr>
          </a:p>
          <a:p>
            <a:pPr indent="0" lvl="0" marL="0" rtl="0" algn="l">
              <a:lnSpc>
                <a:spcPct val="115000"/>
              </a:lnSpc>
              <a:spcBef>
                <a:spcPts val="1200"/>
              </a:spcBef>
              <a:spcAft>
                <a:spcPts val="1200"/>
              </a:spcAft>
              <a:buNone/>
            </a:pPr>
            <a:r>
              <a:t/>
            </a:r>
            <a:endParaRPr sz="1350">
              <a:solidFill>
                <a:srgbClr val="B0B3B8"/>
              </a:solidFill>
              <a:highlight>
                <a:srgbClr val="202124"/>
              </a:highlight>
            </a:endParaRPr>
          </a:p>
        </p:txBody>
      </p:sp>
      <p:pic>
        <p:nvPicPr>
          <p:cNvPr id="91" name="Google Shape;91;p18"/>
          <p:cNvPicPr preferRelativeResize="0"/>
          <p:nvPr/>
        </p:nvPicPr>
        <p:blipFill>
          <a:blip r:embed="rId3">
            <a:alphaModFix/>
          </a:blip>
          <a:stretch>
            <a:fillRect/>
          </a:stretch>
        </p:blipFill>
        <p:spPr>
          <a:xfrm>
            <a:off x="6207500" y="412587"/>
            <a:ext cx="2412175" cy="43183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idx="1" type="body"/>
          </p:nvPr>
        </p:nvSpPr>
        <p:spPr>
          <a:xfrm>
            <a:off x="4083125" y="1152475"/>
            <a:ext cx="47490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pt-BR" sz="7210"/>
              <a:t>• Raciocínio versus memorização nos LLMs</a:t>
            </a:r>
            <a:endParaRPr sz="7210"/>
          </a:p>
          <a:p>
            <a:pPr indent="0" lvl="0" marL="0" rtl="0" algn="l">
              <a:spcBef>
                <a:spcPts val="1200"/>
              </a:spcBef>
              <a:spcAft>
                <a:spcPts val="0"/>
              </a:spcAft>
              <a:buNone/>
            </a:pPr>
            <a:r>
              <a:rPr lang="pt-BR" sz="7210"/>
              <a:t>• Avaliação de problemas reais do GitHub</a:t>
            </a:r>
            <a:endParaRPr sz="7210"/>
          </a:p>
          <a:p>
            <a:pPr indent="0" lvl="0" marL="0" rtl="0" algn="l">
              <a:spcBef>
                <a:spcPts val="1200"/>
              </a:spcBef>
              <a:spcAft>
                <a:spcPts val="0"/>
              </a:spcAft>
              <a:buNone/>
            </a:pPr>
            <a:r>
              <a:rPr lang="pt-BR" sz="7210"/>
              <a:t>• Comparação entre SWE-Bench Verified e repositórios externos</a:t>
            </a:r>
            <a:endParaRPr sz="7210"/>
          </a:p>
          <a:p>
            <a:pPr indent="0" lvl="0" marL="0" rtl="0" algn="l">
              <a:spcBef>
                <a:spcPts val="1200"/>
              </a:spcBef>
              <a:spcAft>
                <a:spcPts val="0"/>
              </a:spcAft>
              <a:buNone/>
            </a:pPr>
            <a:r>
              <a:rPr lang="pt-BR" sz="7210"/>
              <a:t>• 76% versus 53% na identificação de arquivos</a:t>
            </a:r>
            <a:endParaRPr sz="7210"/>
          </a:p>
          <a:p>
            <a:pPr indent="0" lvl="0" marL="0" rtl="0" algn="l">
              <a:spcBef>
                <a:spcPts val="1200"/>
              </a:spcBef>
              <a:spcAft>
                <a:spcPts val="0"/>
              </a:spcAft>
              <a:buNone/>
            </a:pPr>
            <a:r>
              <a:rPr lang="pt-BR" sz="7210"/>
              <a:t>• Evidências de memorização e limitações de generalização</a:t>
            </a:r>
            <a:endParaRPr sz="7210"/>
          </a:p>
          <a:p>
            <a:pPr indent="0" lvl="0" marL="0" rtl="0" algn="l">
              <a:spcBef>
                <a:spcPts val="1200"/>
              </a:spcBef>
              <a:spcAft>
                <a:spcPts val="0"/>
              </a:spcAft>
              <a:buNone/>
            </a:pPr>
            <a:r>
              <a:rPr lang="pt-BR" sz="7210"/>
              <a:t>• Automação não significa substituição do engenheiro</a:t>
            </a:r>
            <a:endParaRPr sz="7210"/>
          </a:p>
          <a:p>
            <a:pPr indent="0" lvl="0" marL="0" rtl="0" algn="l">
              <a:spcBef>
                <a:spcPts val="1200"/>
              </a:spcBef>
              <a:spcAft>
                <a:spcPts val="0"/>
              </a:spcAft>
              <a:buNone/>
            </a:pPr>
            <a:r>
              <a:t/>
            </a:r>
            <a:endParaRPr sz="721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The SWE-Bench Illusion (2026) </a:t>
            </a:r>
            <a:endParaRPr/>
          </a:p>
        </p:txBody>
      </p:sp>
      <p:pic>
        <p:nvPicPr>
          <p:cNvPr id="98" name="Google Shape;98;p19"/>
          <p:cNvPicPr preferRelativeResize="0"/>
          <p:nvPr/>
        </p:nvPicPr>
        <p:blipFill>
          <a:blip r:embed="rId3">
            <a:alphaModFix/>
          </a:blip>
          <a:stretch>
            <a:fillRect/>
          </a:stretch>
        </p:blipFill>
        <p:spPr>
          <a:xfrm>
            <a:off x="284150" y="1152475"/>
            <a:ext cx="3688799" cy="24043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Bertrand Meyer - A IA não ajuda os programadores</a:t>
            </a:r>
            <a:endParaRPr/>
          </a:p>
        </p:txBody>
      </p:sp>
      <p:sp>
        <p:nvSpPr>
          <p:cNvPr id="104" name="Google Shape;104;p20"/>
          <p:cNvSpPr txBox="1"/>
          <p:nvPr>
            <p:ph idx="1" type="body"/>
          </p:nvPr>
        </p:nvSpPr>
        <p:spPr>
          <a:xfrm flipH="1" rot="10800000">
            <a:off x="311700" y="4910116"/>
            <a:ext cx="5849700" cy="59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1200"/>
              </a:spcAft>
              <a:buNone/>
            </a:pPr>
            <a:r>
              <a:t/>
            </a:r>
            <a:endParaRPr/>
          </a:p>
        </p:txBody>
      </p:sp>
      <p:pic>
        <p:nvPicPr>
          <p:cNvPr id="105" name="Google Shape;105;p20"/>
          <p:cNvPicPr preferRelativeResize="0"/>
          <p:nvPr/>
        </p:nvPicPr>
        <p:blipFill>
          <a:blip r:embed="rId3">
            <a:alphaModFix/>
          </a:blip>
          <a:stretch>
            <a:fillRect/>
          </a:stretch>
        </p:blipFill>
        <p:spPr>
          <a:xfrm>
            <a:off x="311700" y="1687700"/>
            <a:ext cx="3358399" cy="2210650"/>
          </a:xfrm>
          <a:prstGeom prst="rect">
            <a:avLst/>
          </a:prstGeom>
          <a:noFill/>
          <a:ln>
            <a:noFill/>
          </a:ln>
        </p:spPr>
      </p:pic>
      <p:pic>
        <p:nvPicPr>
          <p:cNvPr id="106" name="Google Shape;106;p20"/>
          <p:cNvPicPr preferRelativeResize="0"/>
          <p:nvPr/>
        </p:nvPicPr>
        <p:blipFill>
          <a:blip r:embed="rId4">
            <a:alphaModFix/>
          </a:blip>
          <a:stretch>
            <a:fillRect/>
          </a:stretch>
        </p:blipFill>
        <p:spPr>
          <a:xfrm>
            <a:off x="4018350" y="1503450"/>
            <a:ext cx="5049752" cy="3640050"/>
          </a:xfrm>
          <a:prstGeom prst="rect">
            <a:avLst/>
          </a:prstGeom>
          <a:noFill/>
          <a:ln>
            <a:noFill/>
          </a:ln>
        </p:spPr>
      </p:pic>
      <p:sp>
        <p:nvSpPr>
          <p:cNvPr id="107" name="Google Shape;107;p20"/>
          <p:cNvSpPr/>
          <p:nvPr/>
        </p:nvSpPr>
        <p:spPr>
          <a:xfrm>
            <a:off x="4768425" y="1875225"/>
            <a:ext cx="3549600" cy="25998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aseline="30000" lang="pt-BR" sz="3611"/>
              <a:t>• Compartilha das mesmas ideias de Meyer</a:t>
            </a:r>
            <a:endParaRPr baseline="30000" sz="3611"/>
          </a:p>
          <a:p>
            <a:pPr indent="0" lvl="0" marL="0" rtl="0" algn="l">
              <a:spcBef>
                <a:spcPts val="0"/>
              </a:spcBef>
              <a:spcAft>
                <a:spcPts val="0"/>
              </a:spcAft>
              <a:buClr>
                <a:srgbClr val="000000"/>
              </a:buClr>
              <a:buSzPct val="27415"/>
              <a:buFont typeface="Arial"/>
              <a:buNone/>
            </a:pPr>
            <a:r>
              <a:t/>
            </a:r>
            <a:endParaRPr baseline="30000" sz="3611"/>
          </a:p>
        </p:txBody>
      </p:sp>
      <p:sp>
        <p:nvSpPr>
          <p:cNvPr id="113" name="Google Shape;113;p21"/>
          <p:cNvSpPr txBox="1"/>
          <p:nvPr>
            <p:ph idx="1" type="body"/>
          </p:nvPr>
        </p:nvSpPr>
        <p:spPr>
          <a:xfrm>
            <a:off x="311700" y="1607350"/>
            <a:ext cx="8520600" cy="29616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605"/>
              <a:buNone/>
            </a:pPr>
            <a:r>
              <a:rPr baseline="30000" lang="pt-BR" sz="3626">
                <a:solidFill>
                  <a:schemeClr val="dk1"/>
                </a:solidFill>
              </a:rPr>
              <a:t>O estuda reforça a crítica de Meyer, apontando o “Assistente incompetente” como vilão, mesmo assim, não prova que a IA é inútil.</a:t>
            </a:r>
            <a:endParaRPr baseline="30000" sz="3626">
              <a:solidFill>
                <a:schemeClr val="dk1"/>
              </a:solidFill>
            </a:endParaRPr>
          </a:p>
          <a:p>
            <a:pPr indent="0" lvl="0" marL="0" rtl="0" algn="l">
              <a:lnSpc>
                <a:spcPct val="80000"/>
              </a:lnSpc>
              <a:spcBef>
                <a:spcPts val="0"/>
              </a:spcBef>
              <a:spcAft>
                <a:spcPts val="0"/>
              </a:spcAft>
              <a:buSzPts val="605"/>
              <a:buNone/>
            </a:pPr>
            <a:r>
              <a:t/>
            </a:r>
            <a:endParaRPr baseline="30000" sz="3626">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428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aseline="30000" lang="pt-BR" sz="3611"/>
              <a:t>• A </a:t>
            </a:r>
            <a:r>
              <a:rPr baseline="30000" lang="pt-BR" sz="3611"/>
              <a:t>IA </a:t>
            </a:r>
            <a:r>
              <a:rPr baseline="30000" lang="pt-BR" sz="3611"/>
              <a:t>pode deixar o trabalho mais lento</a:t>
            </a:r>
            <a:endParaRPr baseline="30000" sz="3611"/>
          </a:p>
          <a:p>
            <a:pPr indent="0" lvl="0" marL="0" rtl="0" algn="l">
              <a:spcBef>
                <a:spcPts val="0"/>
              </a:spcBef>
              <a:spcAft>
                <a:spcPts val="0"/>
              </a:spcAft>
              <a:buSzPts val="990"/>
              <a:buNone/>
            </a:pPr>
            <a:r>
              <a:rPr baseline="30000" lang="pt-BR" sz="3611"/>
              <a:t>	</a:t>
            </a:r>
            <a:endParaRPr baseline="30000" sz="3611"/>
          </a:p>
          <a:p>
            <a:pPr indent="0" lvl="0" marL="0" rtl="0" algn="l">
              <a:spcBef>
                <a:spcPts val="0"/>
              </a:spcBef>
              <a:spcAft>
                <a:spcPts val="0"/>
              </a:spcAft>
              <a:buSzPts val="990"/>
              <a:buNone/>
            </a:pPr>
            <a:r>
              <a:rPr baseline="30000" lang="pt-BR" sz="3611"/>
              <a:t>• A revisão de código gera trabalho extra</a:t>
            </a:r>
            <a:endParaRPr baseline="30000" sz="3611"/>
          </a:p>
          <a:p>
            <a:pPr indent="0" lvl="0" marL="0" rtl="0" algn="l">
              <a:spcBef>
                <a:spcPts val="0"/>
              </a:spcBef>
              <a:spcAft>
                <a:spcPts val="0"/>
              </a:spcAft>
              <a:buSzPts val="990"/>
              <a:buNone/>
            </a:pPr>
            <a:r>
              <a:t/>
            </a:r>
            <a:endParaRPr baseline="30000" sz="3611"/>
          </a:p>
          <a:p>
            <a:pPr indent="0" lvl="0" marL="0" rtl="0" algn="l">
              <a:spcBef>
                <a:spcPts val="0"/>
              </a:spcBef>
              <a:spcAft>
                <a:spcPts val="0"/>
              </a:spcAft>
              <a:buSzPts val="990"/>
              <a:buNone/>
            </a:pPr>
            <a:r>
              <a:rPr baseline="30000" lang="pt-BR" sz="3611"/>
              <a:t>• A experiência do programador pode influenciar os resultados</a:t>
            </a:r>
            <a:endParaRPr baseline="30000" sz="3611"/>
          </a:p>
          <a:p>
            <a:pPr indent="0" lvl="0" marL="0" rtl="0" algn="l">
              <a:spcBef>
                <a:spcPts val="0"/>
              </a:spcBef>
              <a:spcAft>
                <a:spcPts val="0"/>
              </a:spcAft>
              <a:buSzPts val="990"/>
              <a:buNone/>
            </a:pPr>
            <a:r>
              <a:t/>
            </a:r>
            <a:endParaRPr baseline="30000" sz="3611"/>
          </a:p>
          <a:p>
            <a:pPr indent="0" lvl="0" marL="0" rtl="0" algn="l">
              <a:spcBef>
                <a:spcPts val="0"/>
              </a:spcBef>
              <a:spcAft>
                <a:spcPts val="0"/>
              </a:spcAft>
              <a:buSzPts val="990"/>
              <a:buNone/>
            </a:pPr>
            <a:r>
              <a:rPr baseline="30000" lang="pt-BR" sz="3611"/>
              <a:t>• A IA pode não compensar   </a:t>
            </a:r>
            <a:endParaRPr baseline="30000" sz="3611"/>
          </a:p>
        </p:txBody>
      </p:sp>
      <p:sp>
        <p:nvSpPr>
          <p:cNvPr id="119" name="Google Shape;119;p22"/>
          <p:cNvSpPr txBox="1"/>
          <p:nvPr>
            <p:ph idx="1" type="body"/>
          </p:nvPr>
        </p:nvSpPr>
        <p:spPr>
          <a:xfrm>
            <a:off x="311700" y="4889000"/>
            <a:ext cx="8520600" cy="1608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117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pt-BR" sz="1600">
                <a:solidFill>
                  <a:srgbClr val="0D0D0D"/>
                </a:solidFill>
                <a:highlight>
                  <a:srgbClr val="FCFCFC"/>
                </a:highlight>
              </a:rPr>
              <a:t>Measuring the Impact of Early-2025 AI on Experienced Open-Source Developer Productivity</a:t>
            </a:r>
            <a:r>
              <a:rPr b="1" lang="pt-BR" sz="1600">
                <a:solidFill>
                  <a:srgbClr val="0D0D0D"/>
                </a:solidFill>
                <a:highlight>
                  <a:srgbClr val="FCFCFC"/>
                </a:highlight>
              </a:rPr>
              <a:t> </a:t>
            </a:r>
            <a:endParaRPr b="1" sz="3200"/>
          </a:p>
        </p:txBody>
      </p:sp>
      <p:sp>
        <p:nvSpPr>
          <p:cNvPr id="125" name="Google Shape;125;p23"/>
          <p:cNvSpPr txBox="1"/>
          <p:nvPr>
            <p:ph idx="1" type="body"/>
          </p:nvPr>
        </p:nvSpPr>
        <p:spPr>
          <a:xfrm flipH="1" rot="10800000">
            <a:off x="311700" y="4568775"/>
            <a:ext cx="8520600" cy="146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1200"/>
              </a:spcAft>
              <a:buNone/>
            </a:pPr>
            <a:r>
              <a:t/>
            </a:r>
            <a:endParaRPr/>
          </a:p>
        </p:txBody>
      </p:sp>
      <p:pic>
        <p:nvPicPr>
          <p:cNvPr id="126" name="Google Shape;126;p23"/>
          <p:cNvPicPr preferRelativeResize="0"/>
          <p:nvPr/>
        </p:nvPicPr>
        <p:blipFill>
          <a:blip r:embed="rId3">
            <a:alphaModFix/>
          </a:blip>
          <a:stretch>
            <a:fillRect/>
          </a:stretch>
        </p:blipFill>
        <p:spPr>
          <a:xfrm>
            <a:off x="936325" y="1098350"/>
            <a:ext cx="7113774" cy="38844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  Conclusão</a:t>
            </a:r>
            <a:endParaRPr/>
          </a:p>
          <a:p>
            <a:pPr indent="0" lvl="0" marL="0" rtl="0" algn="l">
              <a:spcBef>
                <a:spcPts val="0"/>
              </a:spcBef>
              <a:spcAft>
                <a:spcPts val="0"/>
              </a:spcAft>
              <a:buNone/>
            </a:pPr>
            <a:r>
              <a:t/>
            </a:r>
            <a:endParaRPr/>
          </a:p>
          <a:p>
            <a:pPr indent="457200" lvl="0" marL="457200" rtl="0" algn="l">
              <a:lnSpc>
                <a:spcPct val="115000"/>
              </a:lnSpc>
              <a:spcBef>
                <a:spcPts val="0"/>
              </a:spcBef>
              <a:spcAft>
                <a:spcPts val="0"/>
              </a:spcAft>
              <a:buNone/>
            </a:pPr>
            <a:r>
              <a:rPr lang="pt-BR" sz="1800">
                <a:solidFill>
                  <a:schemeClr val="lt2"/>
                </a:solidFill>
              </a:rPr>
              <a:t>                 </a:t>
            </a:r>
            <a:r>
              <a:rPr lang="pt-BR" sz="1800">
                <a:solidFill>
                  <a:schemeClr val="lt2"/>
                </a:solidFill>
              </a:rPr>
              <a:t>Vai depender da maneira que você usa.</a:t>
            </a:r>
            <a:endParaRPr sz="1800">
              <a:solidFill>
                <a:schemeClr val="lt2"/>
              </a:solidFill>
            </a:endParaRPr>
          </a:p>
          <a:p>
            <a:pPr indent="0" lvl="0" marL="0" rtl="0" algn="l">
              <a:spcBef>
                <a:spcPts val="1200"/>
              </a:spcBef>
              <a:spcAft>
                <a:spcPts val="0"/>
              </a:spcAft>
              <a:buNone/>
            </a:pPr>
            <a:r>
              <a:t/>
            </a:r>
            <a:endParaRPr sz="1800">
              <a:solidFill>
                <a:schemeClr val="lt2"/>
              </a:solidFill>
            </a:endParaRPr>
          </a:p>
        </p:txBody>
      </p:sp>
      <p:pic>
        <p:nvPicPr>
          <p:cNvPr id="132" name="Google Shape;132;p24"/>
          <p:cNvPicPr preferRelativeResize="0"/>
          <p:nvPr/>
        </p:nvPicPr>
        <p:blipFill>
          <a:blip r:embed="rId3">
            <a:alphaModFix/>
          </a:blip>
          <a:stretch>
            <a:fillRect/>
          </a:stretch>
        </p:blipFill>
        <p:spPr>
          <a:xfrm>
            <a:off x="763475" y="1705925"/>
            <a:ext cx="7407176" cy="33304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27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A profissão vai acabar?</a:t>
            </a:r>
            <a:endParaRPr/>
          </a:p>
        </p:txBody>
      </p:sp>
      <p:graphicFrame>
        <p:nvGraphicFramePr>
          <p:cNvPr id="138" name="Google Shape;138;p25"/>
          <p:cNvGraphicFramePr/>
          <p:nvPr/>
        </p:nvGraphicFramePr>
        <p:xfrm>
          <a:off x="857675" y="1247650"/>
          <a:ext cx="3000000" cy="3000000"/>
        </p:xfrm>
        <a:graphic>
          <a:graphicData uri="http://schemas.openxmlformats.org/drawingml/2006/table">
            <a:tbl>
              <a:tblPr>
                <a:noFill/>
                <a:tableStyleId>{CBF29D40-BAD2-4E86-984F-5603F1A9275C}</a:tableStyleId>
              </a:tblPr>
              <a:tblGrid>
                <a:gridCol w="3714325"/>
                <a:gridCol w="3714325"/>
              </a:tblGrid>
              <a:tr h="371175">
                <a:tc>
                  <a:txBody>
                    <a:bodyPr/>
                    <a:lstStyle/>
                    <a:p>
                      <a:pPr indent="0" lvl="0" marL="0" rtl="0" algn="l">
                        <a:spcBef>
                          <a:spcPts val="0"/>
                        </a:spcBef>
                        <a:spcAft>
                          <a:spcPts val="0"/>
                        </a:spcAft>
                        <a:buNone/>
                      </a:pPr>
                      <a:r>
                        <a:rPr lang="pt-BR">
                          <a:solidFill>
                            <a:schemeClr val="dk1"/>
                          </a:solidFill>
                        </a:rPr>
                        <a:t>Código repetitivo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pt-BR">
                          <a:solidFill>
                            <a:schemeClr val="dk1"/>
                          </a:solidFill>
                        </a:rPr>
                        <a:t>Alta chance</a:t>
                      </a:r>
                      <a:endParaRPr>
                        <a:solidFill>
                          <a:schemeClr val="dk1"/>
                        </a:solidFill>
                      </a:endParaRPr>
                    </a:p>
                  </a:txBody>
                  <a:tcPr marT="91425" marB="91425" marR="91425" marL="91425"/>
                </a:tc>
              </a:tr>
              <a:tr h="371175">
                <a:tc>
                  <a:txBody>
                    <a:bodyPr/>
                    <a:lstStyle/>
                    <a:p>
                      <a:pPr indent="0" lvl="0" marL="0" rtl="0" algn="l">
                        <a:spcBef>
                          <a:spcPts val="0"/>
                        </a:spcBef>
                        <a:spcAft>
                          <a:spcPts val="0"/>
                        </a:spcAft>
                        <a:buNone/>
                      </a:pPr>
                      <a:r>
                        <a:rPr lang="pt-BR">
                          <a:solidFill>
                            <a:schemeClr val="dk1"/>
                          </a:solidFill>
                        </a:rPr>
                        <a:t>Boilerplate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pt-BR">
                          <a:solidFill>
                            <a:schemeClr val="dk1"/>
                          </a:solidFill>
                        </a:rPr>
                        <a:t>Alta chance</a:t>
                      </a:r>
                      <a:endParaRPr>
                        <a:solidFill>
                          <a:schemeClr val="dk1"/>
                        </a:solidFill>
                      </a:endParaRPr>
                    </a:p>
                  </a:txBody>
                  <a:tcPr marT="91425" marB="91425" marR="91425" marL="91425"/>
                </a:tc>
              </a:tr>
              <a:tr h="371175">
                <a:tc>
                  <a:txBody>
                    <a:bodyPr/>
                    <a:lstStyle/>
                    <a:p>
                      <a:pPr indent="0" lvl="0" marL="0" rtl="0" algn="l">
                        <a:spcBef>
                          <a:spcPts val="0"/>
                        </a:spcBef>
                        <a:spcAft>
                          <a:spcPts val="0"/>
                        </a:spcAft>
                        <a:buNone/>
                      </a:pPr>
                      <a:r>
                        <a:rPr lang="pt-BR">
                          <a:solidFill>
                            <a:schemeClr val="dk1"/>
                          </a:solidFill>
                        </a:rPr>
                        <a:t>Testes simples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pt-BR">
                          <a:solidFill>
                            <a:schemeClr val="dk1"/>
                          </a:solidFill>
                        </a:rPr>
                        <a:t>Alta chance</a:t>
                      </a:r>
                      <a:endParaRPr>
                        <a:solidFill>
                          <a:schemeClr val="dk1"/>
                        </a:solidFill>
                      </a:endParaRPr>
                    </a:p>
                  </a:txBody>
                  <a:tcPr marT="91425" marB="91425" marR="91425" marL="91425"/>
                </a:tc>
              </a:tr>
              <a:tr h="371175">
                <a:tc>
                  <a:txBody>
                    <a:bodyPr/>
                    <a:lstStyle/>
                    <a:p>
                      <a:pPr indent="0" lvl="0" marL="0" rtl="0" algn="l">
                        <a:spcBef>
                          <a:spcPts val="0"/>
                        </a:spcBef>
                        <a:spcAft>
                          <a:spcPts val="0"/>
                        </a:spcAft>
                        <a:buNone/>
                      </a:pPr>
                      <a:r>
                        <a:rPr lang="pt-BR">
                          <a:solidFill>
                            <a:schemeClr val="dk1"/>
                          </a:solidFill>
                        </a:rPr>
                        <a:t>Debugging</a:t>
                      </a:r>
                      <a:r>
                        <a:rPr lang="pt-BR">
                          <a:solidFill>
                            <a:schemeClr val="dk1"/>
                          </a:solidFill>
                        </a:rPr>
                        <a:t> simples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pt-BR">
                          <a:solidFill>
                            <a:schemeClr val="dk1"/>
                          </a:solidFill>
                        </a:rPr>
                        <a:t>Parcial</a:t>
                      </a:r>
                      <a:endParaRPr>
                        <a:solidFill>
                          <a:schemeClr val="dk1"/>
                        </a:solidFill>
                      </a:endParaRPr>
                    </a:p>
                  </a:txBody>
                  <a:tcPr marT="91425" marB="91425" marR="91425" marL="91425"/>
                </a:tc>
              </a:tr>
              <a:tr h="371175">
                <a:tc>
                  <a:txBody>
                    <a:bodyPr/>
                    <a:lstStyle/>
                    <a:p>
                      <a:pPr indent="0" lvl="0" marL="0" rtl="0" algn="l">
                        <a:spcBef>
                          <a:spcPts val="0"/>
                        </a:spcBef>
                        <a:spcAft>
                          <a:spcPts val="0"/>
                        </a:spcAft>
                        <a:buNone/>
                      </a:pPr>
                      <a:r>
                        <a:rPr lang="pt-BR">
                          <a:solidFill>
                            <a:schemeClr val="dk1"/>
                          </a:solidFill>
                        </a:rPr>
                        <a:t>Arquitetura</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pt-BR">
                          <a:solidFill>
                            <a:schemeClr val="dk1"/>
                          </a:solidFill>
                        </a:rPr>
                        <a:t>Parcial</a:t>
                      </a:r>
                      <a:endParaRPr>
                        <a:solidFill>
                          <a:schemeClr val="dk1"/>
                        </a:solidFill>
                      </a:endParaRPr>
                    </a:p>
                  </a:txBody>
                  <a:tcPr marT="91425" marB="91425" marR="91425" marL="91425"/>
                </a:tc>
              </a:tr>
              <a:tr h="371175">
                <a:tc>
                  <a:txBody>
                    <a:bodyPr/>
                    <a:lstStyle/>
                    <a:p>
                      <a:pPr indent="0" lvl="0" marL="0" rtl="0" algn="l">
                        <a:spcBef>
                          <a:spcPts val="0"/>
                        </a:spcBef>
                        <a:spcAft>
                          <a:spcPts val="0"/>
                        </a:spcAft>
                        <a:buNone/>
                      </a:pPr>
                      <a:r>
                        <a:rPr lang="pt-BR">
                          <a:solidFill>
                            <a:schemeClr val="dk1"/>
                          </a:solidFill>
                        </a:rPr>
                        <a:t>Requisitos confusos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pt-BR">
                          <a:solidFill>
                            <a:schemeClr val="dk1"/>
                          </a:solidFill>
                        </a:rPr>
                        <a:t>Difícil</a:t>
                      </a:r>
                      <a:endParaRPr>
                        <a:solidFill>
                          <a:schemeClr val="dk1"/>
                        </a:solidFill>
                      </a:endParaRPr>
                    </a:p>
                  </a:txBody>
                  <a:tcPr marT="91425" marB="91425" marR="91425" marL="91425"/>
                </a:tc>
              </a:tr>
              <a:tr h="371175">
                <a:tc>
                  <a:txBody>
                    <a:bodyPr/>
                    <a:lstStyle/>
                    <a:p>
                      <a:pPr indent="0" lvl="0" marL="0" rtl="0" algn="l">
                        <a:spcBef>
                          <a:spcPts val="0"/>
                        </a:spcBef>
                        <a:spcAft>
                          <a:spcPts val="0"/>
                        </a:spcAft>
                        <a:buNone/>
                      </a:pPr>
                      <a:r>
                        <a:rPr lang="pt-BR">
                          <a:solidFill>
                            <a:schemeClr val="dk1"/>
                          </a:solidFill>
                        </a:rPr>
                        <a:t>Decisões de Negócio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pt-BR">
                          <a:solidFill>
                            <a:schemeClr val="dk1"/>
                          </a:solidFill>
                        </a:rPr>
                        <a:t>Muito difícil</a:t>
                      </a:r>
                      <a:endParaRPr>
                        <a:solidFill>
                          <a:schemeClr val="dk1"/>
                        </a:solidFill>
                      </a:endParaRPr>
                    </a:p>
                  </a:txBody>
                  <a:tcPr marT="91425" marB="91425" marR="91425" marL="91425"/>
                </a:tc>
              </a:tr>
              <a:tr h="371175">
                <a:tc>
                  <a:txBody>
                    <a:bodyPr/>
                    <a:lstStyle/>
                    <a:p>
                      <a:pPr indent="0" lvl="0" marL="0" rtl="0" algn="l">
                        <a:spcBef>
                          <a:spcPts val="0"/>
                        </a:spcBef>
                        <a:spcAft>
                          <a:spcPts val="0"/>
                        </a:spcAft>
                        <a:buNone/>
                      </a:pPr>
                      <a:r>
                        <a:rPr lang="pt-BR">
                          <a:solidFill>
                            <a:schemeClr val="dk1"/>
                          </a:solidFill>
                        </a:rPr>
                        <a:t>Responsabilidade</a:t>
                      </a:r>
                      <a:r>
                        <a:rPr lang="pt-BR">
                          <a:solidFill>
                            <a:schemeClr val="dk1"/>
                          </a:solidFill>
                        </a:rPr>
                        <a:t> pelo sistema</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pt-BR">
                          <a:solidFill>
                            <a:schemeClr val="dk1"/>
                          </a:solidFill>
                        </a:rPr>
                        <a:t>Humana</a:t>
                      </a:r>
                      <a:endParaRPr>
                        <a:solidFill>
                          <a:schemeClr val="dk1"/>
                        </a:solidFill>
                      </a:endParaRPr>
                    </a:p>
                  </a:txBody>
                  <a:tcPr marT="91425" marB="91425" marR="91425" marL="91425"/>
                </a:tc>
              </a:tr>
              <a:tr h="371175">
                <a:tc>
                  <a:txBody>
                    <a:bodyPr/>
                    <a:lstStyle/>
                    <a:p>
                      <a:pPr indent="0" lvl="0" marL="0" rtl="0" algn="l">
                        <a:spcBef>
                          <a:spcPts val="0"/>
                        </a:spcBef>
                        <a:spcAft>
                          <a:spcPts val="0"/>
                        </a:spcAft>
                        <a:buNone/>
                      </a:pPr>
                      <a:r>
                        <a:rPr lang="pt-BR">
                          <a:solidFill>
                            <a:schemeClr val="dk1"/>
                          </a:solidFill>
                        </a:rPr>
                        <a:t>Compreensão do problema</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pt-BR">
                          <a:solidFill>
                            <a:schemeClr val="dk1"/>
                          </a:solidFill>
                        </a:rPr>
                        <a:t>Ainda fundamental</a:t>
                      </a:r>
                      <a:endParaRPr>
                        <a:solidFill>
                          <a:schemeClr val="dk1"/>
                        </a:solidFill>
                      </a:endParaRPr>
                    </a:p>
                  </a:txBody>
                  <a:tcPr marT="91425" marB="91425" marR="91425" marL="91425"/>
                </a:tc>
              </a:tr>
            </a:tbl>
          </a:graphicData>
        </a:graphic>
      </p:graphicFrame>
      <p:sp>
        <p:nvSpPr>
          <p:cNvPr id="139" name="Google Shape;139;p25"/>
          <p:cNvSpPr txBox="1"/>
          <p:nvPr/>
        </p:nvSpPr>
        <p:spPr>
          <a:xfrm>
            <a:off x="857675" y="785950"/>
            <a:ext cx="12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lt2"/>
                </a:solidFill>
              </a:rPr>
              <a:t>Atividade</a:t>
            </a:r>
            <a:endParaRPr sz="1800">
              <a:solidFill>
                <a:schemeClr val="lt2"/>
              </a:solidFill>
            </a:endParaRPr>
          </a:p>
        </p:txBody>
      </p:sp>
      <p:sp>
        <p:nvSpPr>
          <p:cNvPr id="140" name="Google Shape;140;p25"/>
          <p:cNvSpPr txBox="1"/>
          <p:nvPr/>
        </p:nvSpPr>
        <p:spPr>
          <a:xfrm>
            <a:off x="4572000" y="785950"/>
            <a:ext cx="3244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lt2"/>
                </a:solidFill>
              </a:rPr>
              <a:t>IA tende a automatizar?</a:t>
            </a:r>
            <a:endParaRPr sz="1800">
              <a:solidFill>
                <a:schemeClr val="lt2"/>
              </a:solidFill>
            </a:endParaRPr>
          </a:p>
        </p:txBody>
      </p:sp>
      <p:sp>
        <p:nvSpPr>
          <p:cNvPr id="141" name="Google Shape;141;p25"/>
          <p:cNvSpPr/>
          <p:nvPr/>
        </p:nvSpPr>
        <p:spPr>
          <a:xfrm>
            <a:off x="5715800" y="1340725"/>
            <a:ext cx="237000" cy="249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5"/>
          <p:cNvSpPr/>
          <p:nvPr/>
        </p:nvSpPr>
        <p:spPr>
          <a:xfrm>
            <a:off x="5387350" y="2507475"/>
            <a:ext cx="237000" cy="2490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5"/>
          <p:cNvSpPr/>
          <p:nvPr/>
        </p:nvSpPr>
        <p:spPr>
          <a:xfrm>
            <a:off x="5387350" y="2906050"/>
            <a:ext cx="237000" cy="2490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5"/>
          <p:cNvSpPr/>
          <p:nvPr/>
        </p:nvSpPr>
        <p:spPr>
          <a:xfrm>
            <a:off x="5241800" y="3304625"/>
            <a:ext cx="237000" cy="2490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5"/>
          <p:cNvSpPr/>
          <p:nvPr/>
        </p:nvSpPr>
        <p:spPr>
          <a:xfrm>
            <a:off x="5624350" y="3675775"/>
            <a:ext cx="237000" cy="249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5"/>
          <p:cNvSpPr/>
          <p:nvPr/>
        </p:nvSpPr>
        <p:spPr>
          <a:xfrm>
            <a:off x="5478800" y="4101775"/>
            <a:ext cx="237000" cy="249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5"/>
          <p:cNvSpPr/>
          <p:nvPr/>
        </p:nvSpPr>
        <p:spPr>
          <a:xfrm>
            <a:off x="6244175" y="4490200"/>
            <a:ext cx="237000" cy="249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5"/>
          <p:cNvSpPr/>
          <p:nvPr/>
        </p:nvSpPr>
        <p:spPr>
          <a:xfrm>
            <a:off x="5715800" y="1736875"/>
            <a:ext cx="237000" cy="249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5"/>
          <p:cNvSpPr/>
          <p:nvPr/>
        </p:nvSpPr>
        <p:spPr>
          <a:xfrm>
            <a:off x="5715800" y="2135963"/>
            <a:ext cx="237000" cy="249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Talvez a pergunta esteja errada</a:t>
            </a:r>
            <a:endParaRPr/>
          </a:p>
        </p:txBody>
      </p:sp>
      <p:sp>
        <p:nvSpPr>
          <p:cNvPr id="155" name="Google Shape;15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b="1" sz="1100">
              <a:solidFill>
                <a:schemeClr val="dk1"/>
              </a:solidFill>
            </a:endParaRPr>
          </a:p>
          <a:p>
            <a:pPr indent="0" lvl="0" marL="0" rtl="0" algn="l">
              <a:spcBef>
                <a:spcPts val="1200"/>
              </a:spcBef>
              <a:spcAft>
                <a:spcPts val="0"/>
              </a:spcAft>
              <a:buNone/>
            </a:pPr>
            <a:r>
              <a:rPr lang="pt-BR" sz="1100">
                <a:solidFill>
                  <a:schemeClr val="dk1"/>
                </a:solidFill>
              </a:rPr>
              <a:t>Em vez de:</a:t>
            </a:r>
            <a:endParaRPr sz="1100">
              <a:solidFill>
                <a:schemeClr val="dk1"/>
              </a:solidFill>
            </a:endParaRPr>
          </a:p>
          <a:p>
            <a:pPr indent="0" lvl="0" marL="381000" marR="381000" rtl="0" algn="l">
              <a:spcBef>
                <a:spcPts val="1200"/>
              </a:spcBef>
              <a:spcAft>
                <a:spcPts val="0"/>
              </a:spcAft>
              <a:buNone/>
            </a:pPr>
            <a:r>
              <a:rPr b="1" lang="pt-BR" sz="1100">
                <a:solidFill>
                  <a:schemeClr val="dk1"/>
                </a:solidFill>
              </a:rPr>
              <a:t>"A IA vai acabar com a programação?"</a:t>
            </a:r>
            <a:endParaRPr b="1" sz="1100">
              <a:solidFill>
                <a:schemeClr val="dk1"/>
              </a:solidFill>
            </a:endParaRPr>
          </a:p>
          <a:p>
            <a:pPr indent="0" lvl="0" marL="0" rtl="0" algn="l">
              <a:spcBef>
                <a:spcPts val="1200"/>
              </a:spcBef>
              <a:spcAft>
                <a:spcPts val="0"/>
              </a:spcAft>
              <a:buNone/>
            </a:pPr>
            <a:r>
              <a:rPr lang="pt-BR" sz="1100">
                <a:solidFill>
                  <a:schemeClr val="dk1"/>
                </a:solidFill>
              </a:rPr>
              <a:t>Perguntar:</a:t>
            </a:r>
            <a:endParaRPr sz="1100">
              <a:solidFill>
                <a:schemeClr val="dk1"/>
              </a:solidFill>
            </a:endParaRPr>
          </a:p>
          <a:p>
            <a:pPr indent="0" lvl="0" marL="381000" marR="381000" rtl="0" algn="l">
              <a:spcBef>
                <a:spcPts val="1200"/>
              </a:spcBef>
              <a:spcAft>
                <a:spcPts val="0"/>
              </a:spcAft>
              <a:buNone/>
            </a:pPr>
            <a:r>
              <a:rPr b="1" lang="pt-BR" sz="1100">
                <a:solidFill>
                  <a:schemeClr val="dk1"/>
                </a:solidFill>
              </a:rPr>
              <a:t>"Quais tarefas do desenvolvedor serão automatizadas, quais permanecerão e quais novas tarefas surgirão?"</a:t>
            </a:r>
            <a:endParaRPr b="1" sz="1100">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rPr lang="pt-BR"/>
              <a:t>Existem 3 caminhos possíveis: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3 Alternativas, à depender da situação:</a:t>
            </a:r>
            <a:endParaRPr/>
          </a:p>
        </p:txBody>
      </p:sp>
      <p:sp>
        <p:nvSpPr>
          <p:cNvPr id="161" name="Google Shape;161;p27"/>
          <p:cNvSpPr txBox="1"/>
          <p:nvPr/>
        </p:nvSpPr>
        <p:spPr>
          <a:xfrm>
            <a:off x="-92050" y="149075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dk1"/>
                </a:solidFill>
              </a:rPr>
              <a:t>A - Substituição: a IA assume o trabalho humano </a:t>
            </a:r>
            <a:endParaRPr>
              <a:solidFill>
                <a:schemeClr val="dk1"/>
              </a:solidFill>
            </a:endParaRPr>
          </a:p>
        </p:txBody>
      </p:sp>
      <p:sp>
        <p:nvSpPr>
          <p:cNvPr id="162" name="Google Shape;162;p27"/>
          <p:cNvSpPr txBox="1"/>
          <p:nvPr/>
        </p:nvSpPr>
        <p:spPr>
          <a:xfrm>
            <a:off x="2989963" y="149075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dk1"/>
                </a:solidFill>
              </a:rPr>
              <a:t>B - </a:t>
            </a:r>
            <a:r>
              <a:rPr lang="pt-BR">
                <a:solidFill>
                  <a:schemeClr val="dk1"/>
                </a:solidFill>
              </a:rPr>
              <a:t>Complementação: a IA torna o desenvolvedor</a:t>
            </a:r>
            <a:r>
              <a:rPr lang="pt-BR">
                <a:solidFill>
                  <a:schemeClr val="dk1"/>
                </a:solidFill>
              </a:rPr>
              <a:t> </a:t>
            </a:r>
            <a:r>
              <a:rPr lang="pt-BR">
                <a:solidFill>
                  <a:schemeClr val="dk1"/>
                </a:solidFill>
              </a:rPr>
              <a:t>mais produtivo </a:t>
            </a:r>
            <a:endParaRPr>
              <a:solidFill>
                <a:schemeClr val="dk1"/>
              </a:solidFill>
            </a:endParaRPr>
          </a:p>
        </p:txBody>
      </p:sp>
      <p:sp>
        <p:nvSpPr>
          <p:cNvPr id="163" name="Google Shape;163;p27"/>
          <p:cNvSpPr txBox="1"/>
          <p:nvPr/>
        </p:nvSpPr>
        <p:spPr>
          <a:xfrm>
            <a:off x="6072000" y="149075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dk1"/>
                </a:solidFill>
              </a:rPr>
              <a:t>C- </a:t>
            </a:r>
            <a:r>
              <a:rPr lang="pt-BR">
                <a:solidFill>
                  <a:schemeClr val="dk1"/>
                </a:solidFill>
              </a:rPr>
              <a:t>Transformação: muda o que significa ser desenvolvedor </a:t>
            </a:r>
            <a:endParaRPr>
              <a:solidFill>
                <a:schemeClr val="dk1"/>
              </a:solidFill>
            </a:endParaRPr>
          </a:p>
        </p:txBody>
      </p:sp>
      <p:cxnSp>
        <p:nvCxnSpPr>
          <p:cNvPr id="164" name="Google Shape;164;p27"/>
          <p:cNvCxnSpPr/>
          <p:nvPr/>
        </p:nvCxnSpPr>
        <p:spPr>
          <a:xfrm>
            <a:off x="2907925" y="1235450"/>
            <a:ext cx="0" cy="2428800"/>
          </a:xfrm>
          <a:prstGeom prst="straightConnector1">
            <a:avLst/>
          </a:prstGeom>
          <a:noFill/>
          <a:ln cap="flat" cmpd="sng" w="9525">
            <a:solidFill>
              <a:srgbClr val="666666"/>
            </a:solidFill>
            <a:prstDash val="solid"/>
            <a:round/>
            <a:headEnd len="med" w="med" type="none"/>
            <a:tailEnd len="med" w="med" type="none"/>
          </a:ln>
        </p:spPr>
      </p:cxnSp>
      <p:cxnSp>
        <p:nvCxnSpPr>
          <p:cNvPr id="165" name="Google Shape;165;p27"/>
          <p:cNvCxnSpPr/>
          <p:nvPr/>
        </p:nvCxnSpPr>
        <p:spPr>
          <a:xfrm>
            <a:off x="6072000" y="1235450"/>
            <a:ext cx="12900" cy="2462400"/>
          </a:xfrm>
          <a:prstGeom prst="straightConnector1">
            <a:avLst/>
          </a:prstGeom>
          <a:noFill/>
          <a:ln cap="flat" cmpd="sng" w="9525">
            <a:solidFill>
              <a:srgbClr val="666666"/>
            </a:solidFill>
            <a:prstDash val="solid"/>
            <a:round/>
            <a:headEnd len="med" w="med" type="none"/>
            <a:tailEnd len="med" w="med" type="none"/>
          </a:ln>
        </p:spPr>
      </p:cxnSp>
      <p:sp>
        <p:nvSpPr>
          <p:cNvPr id="166" name="Google Shape;166;p27"/>
          <p:cNvSpPr/>
          <p:nvPr/>
        </p:nvSpPr>
        <p:spPr>
          <a:xfrm>
            <a:off x="1289450" y="2322750"/>
            <a:ext cx="237000" cy="249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7"/>
          <p:cNvSpPr/>
          <p:nvPr/>
        </p:nvSpPr>
        <p:spPr>
          <a:xfrm>
            <a:off x="4371463" y="2322750"/>
            <a:ext cx="237000" cy="2490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7"/>
          <p:cNvSpPr/>
          <p:nvPr/>
        </p:nvSpPr>
        <p:spPr>
          <a:xfrm>
            <a:off x="7543925" y="2322750"/>
            <a:ext cx="237000" cy="249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7"/>
          <p:cNvSpPr txBox="1"/>
          <p:nvPr/>
        </p:nvSpPr>
        <p:spPr>
          <a:xfrm>
            <a:off x="2748250" y="397905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dk1"/>
                </a:solidFill>
              </a:rPr>
              <a:t>Interferência da IA</a:t>
            </a:r>
            <a:endParaRPr>
              <a:solidFill>
                <a:schemeClr val="dk1"/>
              </a:solidFill>
            </a:endParaRPr>
          </a:p>
        </p:txBody>
      </p:sp>
      <p:cxnSp>
        <p:nvCxnSpPr>
          <p:cNvPr id="170" name="Google Shape;170;p27"/>
          <p:cNvCxnSpPr/>
          <p:nvPr/>
        </p:nvCxnSpPr>
        <p:spPr>
          <a:xfrm flipH="1" rot="10800000">
            <a:off x="989575" y="4572000"/>
            <a:ext cx="7000800" cy="33600"/>
          </a:xfrm>
          <a:prstGeom prst="straightConnector1">
            <a:avLst/>
          </a:prstGeom>
          <a:noFill/>
          <a:ln cap="flat" cmpd="sng" w="9525">
            <a:solidFill>
              <a:schemeClr val="dk1"/>
            </a:solidFill>
            <a:prstDash val="solid"/>
            <a:round/>
            <a:headEnd len="med" w="med" type="none"/>
            <a:tailEnd len="med" w="med" type="stealth"/>
          </a:ln>
        </p:spPr>
      </p:cxnSp>
      <p:sp>
        <p:nvSpPr>
          <p:cNvPr id="171" name="Google Shape;171;p27"/>
          <p:cNvSpPr txBox="1"/>
          <p:nvPr/>
        </p:nvSpPr>
        <p:spPr>
          <a:xfrm>
            <a:off x="678524" y="4379241"/>
            <a:ext cx="40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a:t>
            </a:r>
            <a:endParaRPr sz="1800">
              <a:solidFill>
                <a:schemeClr val="dk1"/>
              </a:solidFill>
            </a:endParaRPr>
          </a:p>
        </p:txBody>
      </p:sp>
      <p:sp>
        <p:nvSpPr>
          <p:cNvPr id="172" name="Google Shape;172;p27"/>
          <p:cNvSpPr txBox="1"/>
          <p:nvPr/>
        </p:nvSpPr>
        <p:spPr>
          <a:xfrm>
            <a:off x="8044141" y="4329404"/>
            <a:ext cx="30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a:t>
            </a:r>
            <a:endParaRPr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Conclusão</a:t>
            </a:r>
            <a:endParaRPr/>
          </a:p>
        </p:txBody>
      </p:sp>
      <p:sp>
        <p:nvSpPr>
          <p:cNvPr id="178" name="Google Shape;178;p28"/>
          <p:cNvSpPr txBox="1"/>
          <p:nvPr>
            <p:ph idx="1" type="body"/>
          </p:nvPr>
        </p:nvSpPr>
        <p:spPr>
          <a:xfrm>
            <a:off x="311700" y="1488150"/>
            <a:ext cx="5766300" cy="2798100"/>
          </a:xfrm>
          <a:prstGeom prst="rect">
            <a:avLst/>
          </a:prstGeom>
        </p:spPr>
        <p:txBody>
          <a:bodyPr anchorCtr="0" anchor="t" bIns="91425" lIns="91425" spcFirstLastPara="1" rIns="91425" wrap="square" tIns="91425">
            <a:normAutofit/>
          </a:bodyPr>
          <a:lstStyle/>
          <a:p>
            <a:pPr indent="0" lvl="0" marL="381000" marR="381000" rtl="0" algn="l">
              <a:spcBef>
                <a:spcPts val="1200"/>
              </a:spcBef>
              <a:spcAft>
                <a:spcPts val="0"/>
              </a:spcAft>
              <a:buNone/>
            </a:pPr>
            <a:r>
              <a:rPr lang="pt-BR" sz="1500">
                <a:solidFill>
                  <a:schemeClr val="dk1"/>
                </a:solidFill>
              </a:rPr>
              <a:t>1. Hoje a IA já está automatizando partes importantes da programação.</a:t>
            </a:r>
            <a:endParaRPr sz="1500">
              <a:solidFill>
                <a:schemeClr val="dk1"/>
              </a:solidFill>
            </a:endParaRPr>
          </a:p>
          <a:p>
            <a:pPr indent="0" lvl="0" marL="381000" marR="381000" rtl="0" algn="l">
              <a:spcBef>
                <a:spcPts val="1200"/>
              </a:spcBef>
              <a:spcAft>
                <a:spcPts val="0"/>
              </a:spcAft>
              <a:buNone/>
            </a:pPr>
            <a:r>
              <a:rPr lang="pt-BR" sz="1500">
                <a:solidFill>
                  <a:schemeClr val="dk1"/>
                </a:solidFill>
              </a:rPr>
              <a:t>2. Isso não demonstra que “programador” como profissão esteja sendo eliminada.</a:t>
            </a:r>
            <a:endParaRPr sz="1500">
              <a:solidFill>
                <a:schemeClr val="dk1"/>
              </a:solidFill>
            </a:endParaRPr>
          </a:p>
          <a:p>
            <a:pPr indent="0" lvl="0" marL="381000" marR="381000" rtl="0" algn="l">
              <a:spcBef>
                <a:spcPts val="1200"/>
              </a:spcBef>
              <a:spcAft>
                <a:spcPts val="0"/>
              </a:spcAft>
              <a:buNone/>
            </a:pPr>
            <a:r>
              <a:rPr lang="pt-BR" sz="1500">
                <a:solidFill>
                  <a:schemeClr val="dk1"/>
                </a:solidFill>
              </a:rPr>
              <a:t>3. A questão não é "fim do desenvolvedor", mas "fim do desenvolvedor como conhecemos hoje".</a:t>
            </a:r>
            <a:endParaRPr sz="1500">
              <a:solidFill>
                <a:schemeClr val="dk1"/>
              </a:solidFill>
            </a:endParaRPr>
          </a:p>
          <a:p>
            <a:pPr indent="0" lvl="0" marL="0" rtl="0" algn="l">
              <a:spcBef>
                <a:spcPts val="1200"/>
              </a:spcBef>
              <a:spcAft>
                <a:spcPts val="1200"/>
              </a:spcAft>
              <a:buNone/>
            </a:pPr>
            <a:r>
              <a:t/>
            </a:r>
            <a:endParaRPr/>
          </a:p>
        </p:txBody>
      </p:sp>
      <p:pic>
        <p:nvPicPr>
          <p:cNvPr id="179" name="Google Shape;179;p28"/>
          <p:cNvPicPr preferRelativeResize="0"/>
          <p:nvPr/>
        </p:nvPicPr>
        <p:blipFill>
          <a:blip r:embed="rId3">
            <a:alphaModFix/>
          </a:blip>
          <a:stretch>
            <a:fillRect/>
          </a:stretch>
        </p:blipFill>
        <p:spPr>
          <a:xfrm>
            <a:off x="6078000" y="927775"/>
            <a:ext cx="2761200" cy="3115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pt-BR"/>
              <a:t>Discussão:</a:t>
            </a:r>
            <a:endParaRPr/>
          </a:p>
        </p:txBody>
      </p:sp>
      <p:sp>
        <p:nvSpPr>
          <p:cNvPr id="185" name="Google Shape;185;p29"/>
          <p:cNvSpPr txBox="1"/>
          <p:nvPr>
            <p:ph idx="1" type="body"/>
          </p:nvPr>
        </p:nvSpPr>
        <p:spPr>
          <a:xfrm>
            <a:off x="252875" y="2241150"/>
            <a:ext cx="4386300" cy="66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pt-BR" sz="1400"/>
              <a:t>"Se programar deixa de significar escrever código, o que significa ser um programador?" </a:t>
            </a:r>
            <a:endParaRPr sz="1400"/>
          </a:p>
        </p:txBody>
      </p:sp>
      <p:pic>
        <p:nvPicPr>
          <p:cNvPr id="186" name="Google Shape;186;p29"/>
          <p:cNvPicPr preferRelativeResize="0"/>
          <p:nvPr/>
        </p:nvPicPr>
        <p:blipFill>
          <a:blip r:embed="rId3">
            <a:alphaModFix/>
          </a:blip>
          <a:stretch>
            <a:fillRect/>
          </a:stretch>
        </p:blipFill>
        <p:spPr>
          <a:xfrm>
            <a:off x="4934579" y="50228"/>
            <a:ext cx="4151426" cy="2217050"/>
          </a:xfrm>
          <a:prstGeom prst="rect">
            <a:avLst/>
          </a:prstGeom>
          <a:noFill/>
          <a:ln>
            <a:noFill/>
          </a:ln>
        </p:spPr>
      </p:pic>
      <p:pic>
        <p:nvPicPr>
          <p:cNvPr id="187" name="Google Shape;187;p29"/>
          <p:cNvPicPr preferRelativeResize="0"/>
          <p:nvPr/>
        </p:nvPicPr>
        <p:blipFill>
          <a:blip r:embed="rId4">
            <a:alphaModFix/>
          </a:blip>
          <a:stretch>
            <a:fillRect/>
          </a:stretch>
        </p:blipFill>
        <p:spPr>
          <a:xfrm>
            <a:off x="4934585" y="2317709"/>
            <a:ext cx="4151424" cy="27669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